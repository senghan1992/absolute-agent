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902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92024"/>
            <a:ext cx="722376" cy="21579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33271" y="1828800"/>
            <a:ext cx="7351775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000000"/>
                </a:solidFill>
                <a:latin typeface="Arial Narrow"/>
                <a:ea typeface="LG스마트체 Regular"/>
              </a:rPr>
              <a:t>IronDome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1" y="2414016"/>
            <a:ext cx="7351775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ea typeface="LG스마트체 Regular"/>
              </a:rPr>
              <a:t>URL 하나면 시작되는 </a:t>
            </a:r>
            <a:r>
              <a:rPr sz="1600" b="1">
                <a:solidFill>
                  <a:srgbClr val="C00000"/>
                </a:solidFill>
                <a:latin typeface="Arial Narrow"/>
                <a:ea typeface="LG스마트체 Regular"/>
              </a:rPr>
              <a:t>창의적 모의해킹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80360"/>
            <a:ext cx="4023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>
                <a:solidFill>
                  <a:srgbClr val="000000"/>
                </a:solidFill>
                <a:latin typeface="Arial Narrow"/>
                <a:ea typeface="LG스마트체 Regular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017520"/>
            <a:ext cx="68580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00000"/>
                </a:solidFill>
                <a:latin typeface="Arial Narrow"/>
                <a:ea typeface="LG스마트체 Regular"/>
              </a:rPr>
              <a:t>IronDome의 고객</a:t>
            </a:r>
            <a:r>
              <a:rPr sz="1200" b="0">
                <a:solidFill>
                  <a:srgbClr val="000000"/>
                </a:solidFill>
                <a:latin typeface="Arial Narrow"/>
                <a:ea typeface="LG스마트체 Regular"/>
              </a:rPr>
              <a:t>은 바이브코딩으로 서비스를 찍어내지만 보안을 볼 여유가 없는 개발팀과 점검을 의뢰하는 현업입니다.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00000"/>
                </a:solidFill>
                <a:latin typeface="Arial Narrow"/>
                <a:ea typeface="LG스마트체 Regular"/>
              </a:rPr>
              <a:t>IronDome의 고객가치</a:t>
            </a:r>
            <a:r>
              <a:rPr sz="1200" b="0">
                <a:solidFill>
                  <a:srgbClr val="000000"/>
                </a:solidFill>
                <a:latin typeface="Arial Narrow"/>
                <a:ea typeface="LG스마트체 Regular"/>
              </a:rPr>
              <a:t>는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 Narrow"/>
                <a:ea typeface="LG스마트체 Regular"/>
              </a:rPr>
              <a:t>URL 하나만으로 창의적 공격 루트를 발굴하고 증거와 함께 보고함으로써 출시 전 불안을 해소하는 것입니다.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3611880"/>
            <a:ext cx="4023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>
                <a:solidFill>
                  <a:srgbClr val="000000"/>
                </a:solidFill>
                <a:latin typeface="Arial Narrow"/>
                <a:ea typeface="LG스마트체 Regular"/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443484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C00000"/>
                </a:solidFill>
                <a:latin typeface="Arial Narrow"/>
                <a:ea typeface="LG스마트체 Regular"/>
              </a:rPr>
              <a:t>RLM  ·  </a:t>
            </a:r>
            <a:r>
              <a:rPr sz="1150" b="0">
                <a:solidFill>
                  <a:srgbClr val="333333"/>
                </a:solidFill>
                <a:latin typeface="Arial Narrow"/>
                <a:ea typeface="LG스마트체 Regular"/>
              </a:rPr>
              <a:t>스스로 나누고 · 실행하고 · 배우는 재귀 언어 모델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440680"/>
            <a:ext cx="374903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ea typeface="LG스마트체 Regular"/>
              </a:rPr>
              <a:t>발표자</a:t>
            </a:r>
            <a:r>
              <a:rPr sz="1400" b="0">
                <a:solidFill>
                  <a:srgbClr val="000000"/>
                </a:solidFill>
                <a:latin typeface="Arial Narrow"/>
                <a:ea typeface="LG스마트체 Regular"/>
              </a:rPr>
              <a:t>｜ 2026</a:t>
            </a:r>
          </a:p>
        </p:txBody>
      </p:sp>
      <p:pic>
        <p:nvPicPr>
          <p:cNvPr id="11" name="Picture 10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6136" y="5138928"/>
            <a:ext cx="822960" cy="365760"/>
          </a:xfrm>
          <a:prstGeom prst="rect">
            <a:avLst/>
          </a:prstGeom>
        </p:spPr>
      </p:pic>
      <p:pic>
        <p:nvPicPr>
          <p:cNvPr id="12" name="Picture 11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5230368"/>
            <a:ext cx="1453896" cy="1435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79392" y="64008"/>
            <a:ext cx="13807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/>
              </a:rPr>
              <a:t>LGE Internal Use Only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39496"/>
            <a:ext cx="9902952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008"/>
            <a:ext cx="38404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000000"/>
                </a:solidFill>
                <a:latin typeface="Arial Narrow"/>
                <a:ea typeface="LG스마트체 Regular"/>
              </a:rPr>
              <a:t>1. 추진 배경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859536"/>
            <a:ext cx="16733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Arial Narrow"/>
                <a:ea typeface="LG스마트체 Regular"/>
              </a:rPr>
              <a:t>IronDome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89885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95959"/>
                </a:solidFill>
                <a:latin typeface="Arial Narrow"/>
                <a:ea typeface="LG스마트체 Regular"/>
              </a:rPr>
              <a:t>바이브코딩 시대 — 만드는 데만 관심이 쏠리고, 보안은 아무도 보지 않는다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6574536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Arial Narrow"/>
                <a:ea typeface="LG스마트체 Regular"/>
              </a:rPr>
              <a:t>‹2› 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C00000"/>
                </a:solidFill>
                <a:latin typeface="Arial Narrow"/>
                <a:ea typeface="LG스마트체 Regula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28346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ea typeface="LG스마트체 Regular"/>
              </a:rPr>
              <a:t>만들기만 한다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Arial Narrow"/>
                <a:ea typeface="LG스마트체 Regular"/>
              </a:rPr>
              <a:t>바이브코딩으로 아이디어에서 배포까지 하루. 만드는 건 한 프롬프트인데, 보안 점검은 여전히 전문가의 손을 탑니다.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69164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C00000"/>
                </a:solidFill>
                <a:latin typeface="Arial Narrow"/>
                <a:ea typeface="LG스마트체 Regular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331720"/>
            <a:ext cx="28346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ea typeface="LG스마트체 Regular"/>
              </a:rPr>
              <a:t>보여주기식 서비스가 난무한다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Arial Narrow"/>
                <a:ea typeface="LG스마트체 Regular"/>
              </a:rPr>
              <a:t>시연용 · 과제용 · 포트폴리오용으로 찍어낸 서비스들. 겉은 멀쩡하지만 속은 열린 문투성입니다.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C00000"/>
                </a:solidFill>
                <a:latin typeface="Arial Narrow"/>
                <a:ea typeface="LG스마트체 Regular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31720"/>
            <a:ext cx="28346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ea typeface="LG스마트체 Regular"/>
              </a:rPr>
              <a:t>열린 문은 그대로다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Arial Narrow"/>
                <a:ea typeface="LG스마트체 Regular"/>
              </a:rPr>
              <a:t>기존 점검은 정해진 것만 두드리고, 배우지 못하고, 증거도 주지 않습니다. 공격자는 창의적인데, 방어는 그대로입니다.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0128" y="1737360"/>
            <a:ext cx="12700" cy="26517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81928" y="1737360"/>
            <a:ext cx="12700" cy="26517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5074920"/>
            <a:ext cx="898855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074920"/>
            <a:ext cx="8988552" cy="3175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120640"/>
            <a:ext cx="8439912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C00000"/>
                </a:solidFill>
                <a:latin typeface="Arial Narrow"/>
                <a:ea typeface="LG스마트체 Regular"/>
              </a:rPr>
              <a:t>그래서 만들었습니다  —  </a:t>
            </a:r>
            <a:r>
              <a:rPr sz="1250" b="0">
                <a:solidFill>
                  <a:srgbClr val="000000"/>
                </a:solidFill>
                <a:latin typeface="Arial Narrow"/>
                <a:ea typeface="LG스마트체 Regular"/>
              </a:rPr>
              <a:t>찍어내는 속도에 맞는, 스스로 뚫고 증명하는 점검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79392" y="64008"/>
            <a:ext cx="13807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/>
              </a:rPr>
              <a:t>LGE Internal Use Only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39496"/>
            <a:ext cx="9902952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008"/>
            <a:ext cx="38404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000000"/>
                </a:solidFill>
                <a:latin typeface="Arial Narrow"/>
                <a:ea typeface="LG스마트체 Regular"/>
              </a:rPr>
              <a:t>2. IronDome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859536"/>
            <a:ext cx="16733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Arial Narrow"/>
                <a:ea typeface="LG스마트체 Regular"/>
              </a:rPr>
              <a:t>IronDome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89885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95959"/>
                </a:solidFill>
                <a:latin typeface="Arial Narrow"/>
                <a:ea typeface="LG스마트체 Regular"/>
              </a:rPr>
              <a:t>스스로 정찰 · 공격 · 증명 · 보고하는 자기발전형 화이트해커 에이전트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6574536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Arial Narrow"/>
                <a:ea typeface="LG스마트체 Regular"/>
              </a:rPr>
              <a:t>‹3› /10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89885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00200"/>
            <a:ext cx="73152" cy="8686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8366760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Arial Narrow"/>
                <a:ea typeface="LG스마트체 Regular"/>
              </a:rPr>
              <a:t>IronDome(RedCell)은 </a:t>
            </a:r>
            <a:r>
              <a:rPr sz="1200" b="1">
                <a:solidFill>
                  <a:srgbClr val="000000"/>
                </a:solidFill>
                <a:latin typeface="Arial Narrow"/>
                <a:ea typeface="LG스마트체 Regular"/>
              </a:rPr>
              <a:t>“자신의 서비스 · 랩만” 대상으로 합법적으로 학습하고 스스로 발전합니다. </a:t>
            </a:r>
            <a:r>
              <a:rPr sz="1200" b="0">
                <a:solidFill>
                  <a:srgbClr val="595959"/>
                </a:solidFill>
                <a:latin typeface="Arial Narrow"/>
                <a:ea typeface="LG스마트체 Regular"/>
              </a:rPr>
              <a:t>성공한 전술을 축적해 다음엔 더 빨리 뚫습니다.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97480"/>
            <a:ext cx="2084831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  <a:effectLst>
            <a:outerShdw blurRad="50000" dist="18000" dir="5400000" algn="b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761488"/>
            <a:ext cx="1938527" cy="832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595959"/>
                </a:solidFill>
                <a:latin typeface="Arial Narrow"/>
                <a:ea typeface="LG스마트체 Regular"/>
              </a:rPr>
              <a:t>인가 확인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 Narrow"/>
                <a:ea typeface="LG스마트체 Regular"/>
              </a:rPr>
              <a:t>밖이면 종료</a:t>
            </a:r>
          </a:p>
        </p:txBody>
      </p:sp>
      <p:sp>
        <p:nvSpPr>
          <p:cNvPr id="14" name="Oval 13"/>
          <p:cNvSpPr/>
          <p:nvPr/>
        </p:nvSpPr>
        <p:spPr>
          <a:xfrm>
            <a:off x="292608" y="2606040"/>
            <a:ext cx="274320" cy="274320"/>
          </a:xfrm>
          <a:prstGeom prst="ellipse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 Narrow"/>
                <a:ea typeface="LG스마트체 Regular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3168015"/>
            <a:ext cx="82296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5400000">
            <a:off x="2642616" y="3114040"/>
            <a:ext cx="82296" cy="127000"/>
          </a:xfrm>
          <a:prstGeom prst="triangle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0" y="2697480"/>
            <a:ext cx="2084831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  <a:effectLst>
            <a:outerShdw blurRad="50000" dist="18000" dir="5400000" algn="b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16352" y="2761488"/>
            <a:ext cx="1938527" cy="832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Arial Narrow"/>
                <a:ea typeface="LG스마트체 Regular"/>
              </a:rPr>
              <a:t>정찰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 Narrow"/>
                <a:ea typeface="LG스마트체 Regular"/>
              </a:rPr>
              <a:t>헤더 · 크롤 · WAF</a:t>
            </a:r>
          </a:p>
        </p:txBody>
      </p:sp>
      <p:sp>
        <p:nvSpPr>
          <p:cNvPr id="19" name="Oval 18"/>
          <p:cNvSpPr/>
          <p:nvPr/>
        </p:nvSpPr>
        <p:spPr>
          <a:xfrm>
            <a:off x="2578608" y="2606040"/>
            <a:ext cx="274320" cy="274320"/>
          </a:xfrm>
          <a:prstGeom prst="ellipse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 Narrow"/>
                <a:ea typeface="LG스마트체 Regular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19" y="3168015"/>
            <a:ext cx="82296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5400000">
            <a:off x="4928616" y="3114040"/>
            <a:ext cx="82296" cy="127000"/>
          </a:xfrm>
          <a:prstGeom prst="triangle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0" y="2697480"/>
            <a:ext cx="2084831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  <a:effectLst>
            <a:outerShdw blurRad="50000" dist="18000" dir="5400000" algn="b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02352" y="2761488"/>
            <a:ext cx="1938527" cy="832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Arial Narrow"/>
                <a:ea typeface="LG스마트체 Regular"/>
              </a:rPr>
              <a:t>열거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 Narrow"/>
                <a:ea typeface="LG스마트체 Regular"/>
              </a:rPr>
              <a:t>디렉토리 · 시크릿</a:t>
            </a:r>
          </a:p>
        </p:txBody>
      </p:sp>
      <p:sp>
        <p:nvSpPr>
          <p:cNvPr id="24" name="Oval 23"/>
          <p:cNvSpPr/>
          <p:nvPr/>
        </p:nvSpPr>
        <p:spPr>
          <a:xfrm>
            <a:off x="4864608" y="2606040"/>
            <a:ext cx="274320" cy="274320"/>
          </a:xfrm>
          <a:prstGeom prst="ellipse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 Narrow"/>
                <a:ea typeface="LG스마트체 Regular"/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19" y="3168015"/>
            <a:ext cx="82296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 rot="5400000">
            <a:off x="7214616" y="3114040"/>
            <a:ext cx="82296" cy="127000"/>
          </a:xfrm>
          <a:prstGeom prst="triangle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0" y="2697480"/>
            <a:ext cx="2084831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A50034"/>
            </a:solidFill>
          </a:ln>
          <a:effectLst>
            <a:outerShdw blurRad="50000" dist="18000" dir="5400000" algn="b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88352" y="2761488"/>
            <a:ext cx="1938527" cy="832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00000"/>
                </a:solidFill>
                <a:latin typeface="Arial Narrow"/>
                <a:ea typeface="LG스마트체 Regular"/>
              </a:rPr>
              <a:t>공격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 Narrow"/>
                <a:ea typeface="LG스마트체 Regular"/>
              </a:rPr>
              <a:t>SQLi · XSS · SSRF…</a:t>
            </a:r>
          </a:p>
        </p:txBody>
      </p:sp>
      <p:sp>
        <p:nvSpPr>
          <p:cNvPr id="29" name="Oval 28"/>
          <p:cNvSpPr/>
          <p:nvPr/>
        </p:nvSpPr>
        <p:spPr>
          <a:xfrm>
            <a:off x="7150608" y="2606040"/>
            <a:ext cx="274320" cy="274320"/>
          </a:xfrm>
          <a:prstGeom prst="ellipse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 Narrow"/>
                <a:ea typeface="LG스마트체 Regular"/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23060" y="3931920"/>
            <a:ext cx="2084831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50000" dist="18000" dir="5400000" algn="b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96212" y="3995928"/>
            <a:ext cx="1938527" cy="832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Arial Narrow"/>
                <a:ea typeface="LG스마트체 Regular"/>
              </a:rPr>
              <a:t>증거 수집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 Narrow"/>
                <a:ea typeface="LG스마트체 Regular"/>
              </a:rPr>
              <a:t>근거 + 마스킹</a:t>
            </a:r>
          </a:p>
        </p:txBody>
      </p:sp>
      <p:sp>
        <p:nvSpPr>
          <p:cNvPr id="32" name="Oval 31"/>
          <p:cNvSpPr/>
          <p:nvPr/>
        </p:nvSpPr>
        <p:spPr>
          <a:xfrm>
            <a:off x="1458468" y="3840480"/>
            <a:ext cx="274320" cy="274320"/>
          </a:xfrm>
          <a:prstGeom prst="ellipse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 Narrow"/>
                <a:ea typeface="LG스마트체 Regular"/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26179" y="4402455"/>
            <a:ext cx="82296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 rot="5400000">
            <a:off x="3808476" y="4348480"/>
            <a:ext cx="82296" cy="127000"/>
          </a:xfrm>
          <a:prstGeom prst="triangle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09060" y="3931920"/>
            <a:ext cx="2084831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50000" dist="18000" dir="5400000" algn="b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82212" y="3995928"/>
            <a:ext cx="1938527" cy="832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Arial Narrow"/>
                <a:ea typeface="LG스마트체 Regular"/>
              </a:rPr>
              <a:t>검증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 Narrow"/>
                <a:ea typeface="LG스마트체 Regular"/>
              </a:rPr>
              <a:t>실증 / 징후 / 가정</a:t>
            </a:r>
          </a:p>
        </p:txBody>
      </p:sp>
      <p:sp>
        <p:nvSpPr>
          <p:cNvPr id="37" name="Oval 36"/>
          <p:cNvSpPr/>
          <p:nvPr/>
        </p:nvSpPr>
        <p:spPr>
          <a:xfrm>
            <a:off x="3744468" y="3840480"/>
            <a:ext cx="274320" cy="274320"/>
          </a:xfrm>
          <a:prstGeom prst="ellipse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 Narrow"/>
                <a:ea typeface="LG스마트체 Regular"/>
              </a:rPr>
              <a:t>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12179" y="4402455"/>
            <a:ext cx="82296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 rot="5400000">
            <a:off x="6094476" y="4348480"/>
            <a:ext cx="82296" cy="127000"/>
          </a:xfrm>
          <a:prstGeom prst="triangle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95060" y="3931920"/>
            <a:ext cx="2084831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50000" dist="18000" dir="5400000" algn="b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8212" y="3995928"/>
            <a:ext cx="1938527" cy="832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Arial Narrow"/>
                <a:ea typeface="LG스마트체 Regular"/>
              </a:rPr>
              <a:t>보고서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 Narrow"/>
                <a:ea typeface="LG스마트체 Regular"/>
              </a:rPr>
              <a:t>MD · HTML · A~F</a:t>
            </a:r>
          </a:p>
        </p:txBody>
      </p:sp>
      <p:sp>
        <p:nvSpPr>
          <p:cNvPr id="42" name="Oval 41"/>
          <p:cNvSpPr/>
          <p:nvPr/>
        </p:nvSpPr>
        <p:spPr>
          <a:xfrm>
            <a:off x="6030468" y="3840480"/>
            <a:ext cx="274320" cy="274320"/>
          </a:xfrm>
          <a:prstGeom prst="ellipse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 Narrow"/>
                <a:ea typeface="LG스마트체 Regular"/>
              </a:rPr>
              <a:t>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37379" y="3675887"/>
            <a:ext cx="19050" cy="15544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 rot="10800000">
            <a:off x="4883404" y="3831336"/>
            <a:ext cx="127000" cy="82296"/>
          </a:xfrm>
          <a:prstGeom prst="triangle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5074920"/>
            <a:ext cx="2084831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074920"/>
            <a:ext cx="2084831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Arial Narrow"/>
                <a:ea typeface="LG스마트체 Regular"/>
              </a:rPr>
              <a:t>창의적 시도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5074920"/>
            <a:ext cx="2084831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0" y="5074920"/>
            <a:ext cx="2084831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Arial Narrow"/>
                <a:ea typeface="LG스마트체 Regular"/>
              </a:rPr>
              <a:t>RLM 추론 · 학습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0" y="5074920"/>
            <a:ext cx="2084831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0" y="5074920"/>
            <a:ext cx="2084831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Arial Narrow"/>
                <a:ea typeface="LG스마트체 Regular"/>
              </a:rPr>
              <a:t>증거 기반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0" y="5074920"/>
            <a:ext cx="2084831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0" y="5074920"/>
            <a:ext cx="2084831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Arial Narrow"/>
                <a:ea typeface="LG스마트체 Regular"/>
              </a:rPr>
              <a:t>누구나 사용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5623560"/>
            <a:ext cx="8988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333333"/>
                </a:solidFill>
                <a:latin typeface="Arial Narrow"/>
                <a:ea typeface="LG스마트체 Regular"/>
              </a:rPr>
              <a:t>원칙  ·  </a:t>
            </a:r>
            <a:r>
              <a:rPr sz="1050" b="0">
                <a:solidFill>
                  <a:srgbClr val="595959"/>
                </a:solidFill>
                <a:latin typeface="Arial Narrow"/>
                <a:ea typeface="LG스마트체 Regular"/>
              </a:rPr>
              <a:t>인가 밖 대상은 스캔 자체가 시작되지 않습니다  ·  실측은 항상 비파괴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79392" y="64008"/>
            <a:ext cx="13807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/>
              </a:rPr>
              <a:t>LGE Internal Use Only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39496"/>
            <a:ext cx="9902952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008"/>
            <a:ext cx="38404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000000"/>
                </a:solidFill>
                <a:latin typeface="Arial Narrow"/>
                <a:ea typeface="LG스마트체 Regular"/>
              </a:rPr>
              <a:t>3. 창의적 공격 루트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859536"/>
            <a:ext cx="16733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Arial Narrow"/>
                <a:ea typeface="LG스마트체 Regular"/>
              </a:rPr>
              <a:t>IronDome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89885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95959"/>
                </a:solidFill>
                <a:latin typeface="Arial Narrow"/>
                <a:ea typeface="LG스마트체 Regular"/>
              </a:rPr>
              <a:t>정해진 시나리오가 아니라 발산형 탐색으로 새 루트를 찾습니다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6574536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Arial Narrow"/>
                <a:ea typeface="LG스마트체 Regular"/>
              </a:rPr>
              <a:t>‹4› /10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521208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50000" dist="18000" dir="5400000" algn="b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C00000"/>
                </a:solidFill>
                <a:latin typeface="Arial Narrow"/>
                <a:ea typeface="LG스마트체 Regular"/>
              </a:rPr>
              <a:t>37개 </a:t>
            </a:r>
            <a:r>
              <a:rPr sz="1250" b="1">
                <a:solidFill>
                  <a:srgbClr val="000000"/>
                </a:solidFill>
                <a:latin typeface="Arial Narrow"/>
                <a:ea typeface="LG스마트체 Regular"/>
              </a:rPr>
              <a:t>공격 표면  </a:t>
            </a:r>
            <a:r>
              <a:rPr sz="1100" b="0">
                <a:solidFill>
                  <a:srgbClr val="595959"/>
                </a:solidFill>
                <a:latin typeface="Arial Narrow"/>
                <a:ea typeface="LG스마트체 Regular"/>
              </a:rPr>
              <a:t>(일부)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240280"/>
            <a:ext cx="16276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240280"/>
            <a:ext cx="16276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Arial Narrow"/>
                <a:ea typeface="LG스마트체 Regular"/>
              </a:rPr>
              <a:t>SQL 인젝션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86584" y="2240280"/>
            <a:ext cx="16276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6584" y="2240280"/>
            <a:ext cx="16276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Arial Narrow"/>
                <a:ea typeface="LG스마트체 Regular"/>
              </a:rPr>
              <a:t>XSS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87368" y="2240280"/>
            <a:ext cx="16276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240280"/>
            <a:ext cx="16276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Arial Narrow"/>
                <a:ea typeface="LG스마트체 Regular"/>
              </a:rPr>
              <a:t>SSRF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697480"/>
            <a:ext cx="16276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697480"/>
            <a:ext cx="16276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Arial Narrow"/>
                <a:ea typeface="LG스마트체 Regular"/>
              </a:rPr>
              <a:t>IDOR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86584" y="2697480"/>
            <a:ext cx="16276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86584" y="2697480"/>
            <a:ext cx="16276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Arial Narrow"/>
                <a:ea typeface="LG스마트체 Regular"/>
              </a:rPr>
              <a:t>SSTI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87368" y="2697480"/>
            <a:ext cx="16276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87368" y="2697480"/>
            <a:ext cx="16276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Arial Narrow"/>
                <a:ea typeface="LG스마트체 Regular"/>
              </a:rPr>
              <a:t>명령어 삽입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154680"/>
            <a:ext cx="16276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154680"/>
            <a:ext cx="16276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Arial Narrow"/>
                <a:ea typeface="LG스마트체 Regular"/>
              </a:rPr>
              <a:t>XXE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86584" y="3154680"/>
            <a:ext cx="16276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86584" y="3154680"/>
            <a:ext cx="16276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Arial Narrow"/>
                <a:ea typeface="LG스마트체 Regular"/>
              </a:rPr>
              <a:t>JWT 위조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87368" y="3154680"/>
            <a:ext cx="16276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87368" y="3154680"/>
            <a:ext cx="16276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Arial Narrow"/>
                <a:ea typeface="LG스마트체 Regular"/>
              </a:rPr>
              <a:t>스머글링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611880"/>
            <a:ext cx="16276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611880"/>
            <a:ext cx="16276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Arial Narrow"/>
                <a:ea typeface="LG스마트체 Regular"/>
              </a:rPr>
              <a:t>캐시 기만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86584" y="3611880"/>
            <a:ext cx="16276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86584" y="3611880"/>
            <a:ext cx="16276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Arial Narrow"/>
                <a:ea typeface="LG스마트체 Regular"/>
              </a:rPr>
              <a:t>CSRF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87368" y="3611880"/>
            <a:ext cx="16276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87368" y="3611880"/>
            <a:ext cx="16276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33333"/>
                </a:solidFill>
                <a:latin typeface="Arial Narrow"/>
                <a:ea typeface="LG스마트체 Regular"/>
              </a:rPr>
              <a:t>GraphQL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160520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5959"/>
                </a:solidFill>
                <a:latin typeface="Arial Narrow"/>
                <a:ea typeface="LG스마트체 Regular"/>
              </a:rPr>
              <a:t>+ 파일 업로드 · 경쟁 조건 · 역직렬화 등 25종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434840"/>
            <a:ext cx="466344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507992"/>
            <a:ext cx="4663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00000"/>
                </a:solidFill>
                <a:latin typeface="Arial Narrow"/>
                <a:ea typeface="LG스마트체 Regular"/>
              </a:rPr>
              <a:t>PayloadForge  ·  </a:t>
            </a:r>
            <a:r>
              <a:rPr sz="1050" b="0">
                <a:solidFill>
                  <a:srgbClr val="333333"/>
                </a:solidFill>
                <a:latin typeface="Arial Narrow"/>
                <a:ea typeface="LG스마트체 Regular"/>
              </a:rPr>
              <a:t>정해진 페이로드가 아닌, 그 자리에서 만드는 동적 생성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89320" y="1691640"/>
            <a:ext cx="457200" cy="4445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89320" y="1892808"/>
            <a:ext cx="345643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00000"/>
                </a:solidFill>
                <a:latin typeface="Arial Narrow"/>
                <a:ea typeface="LG스마트체 Regular"/>
              </a:rPr>
              <a:t>다각 표면 커버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Arial Narrow"/>
                <a:ea typeface="LG스마트체 Regular"/>
              </a:rPr>
              <a:t>정찰 → 열거 → 공격을 하나의 캠페인이 끊김 없이 수행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9320" y="3063240"/>
            <a:ext cx="457200" cy="4445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89320" y="3264408"/>
            <a:ext cx="345643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00000"/>
                </a:solidFill>
                <a:latin typeface="Arial Narrow"/>
                <a:ea typeface="LG스마트체 Regular"/>
              </a:rPr>
              <a:t>조합 · 체이닝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Arial Narrow"/>
                <a:ea typeface="LG스마트체 Regular"/>
              </a:rPr>
              <a:t>탈취한 단서를 다음 공격의 열쇠로 연결해 실제 침투 경로로 확장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89320" y="4434840"/>
            <a:ext cx="457200" cy="4445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89320" y="4636007"/>
            <a:ext cx="345643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00000"/>
                </a:solidFill>
                <a:latin typeface="Arial Narrow"/>
                <a:ea typeface="LG스마트체 Regular"/>
              </a:rPr>
              <a:t>시나리오 발굴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Arial Narrow"/>
                <a:ea typeface="LG스마트체 Regular"/>
              </a:rPr>
              <a:t>비즈니스 로직 · 운영 방식 루트까지 모델이 찾아냄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79392" y="64008"/>
            <a:ext cx="13807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/>
              </a:rPr>
              <a:t>LGE Internal Use Only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39496"/>
            <a:ext cx="9902952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008"/>
            <a:ext cx="38404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000000"/>
                </a:solidFill>
                <a:latin typeface="Arial Narrow"/>
                <a:ea typeface="LG스마트체 Regular"/>
              </a:rPr>
              <a:t>4. 배우는 공격자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859536"/>
            <a:ext cx="16733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Arial Narrow"/>
                <a:ea typeface="LG스마트체 Regular"/>
              </a:rPr>
              <a:t>IronDome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89885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95959"/>
                </a:solidFill>
                <a:latin typeface="Arial Narrow"/>
                <a:ea typeface="LG스마트체 Regular"/>
              </a:rPr>
              <a:t>시도 → 학습 → 축적의 루프가 매 세션을 자산으로 남깁니다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6574536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Arial Narrow"/>
                <a:ea typeface="LG스마트체 Regular"/>
              </a:rPr>
              <a:t>‹5› /10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1618488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  <a:effectLst>
            <a:outerShdw blurRad="50000" dist="18000" dir="5400000" algn="b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645920"/>
            <a:ext cx="1472184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Arial Narrow"/>
                <a:ea typeface="LG스마트체 Regular"/>
              </a:rPr>
              <a:t>관측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 Narrow"/>
                <a:ea typeface="LG스마트체 Regular"/>
              </a:rPr>
              <a:t>상태 지문</a:t>
            </a:r>
          </a:p>
        </p:txBody>
      </p:sp>
      <p:sp>
        <p:nvSpPr>
          <p:cNvPr id="11" name="Oval 10"/>
          <p:cNvSpPr/>
          <p:nvPr/>
        </p:nvSpPr>
        <p:spPr>
          <a:xfrm>
            <a:off x="292608" y="1508760"/>
            <a:ext cx="274320" cy="274320"/>
          </a:xfrm>
          <a:prstGeom prst="ellipse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 Narrow"/>
                <a:ea typeface="LG스마트체 Regular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93976" y="2093595"/>
            <a:ext cx="105156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2199132" y="2039620"/>
            <a:ext cx="82296" cy="127000"/>
          </a:xfrm>
          <a:prstGeom prst="triangle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99716" y="1600200"/>
            <a:ext cx="1618488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  <a:effectLst>
            <a:outerShdw blurRad="50000" dist="18000" dir="5400000" algn="b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2868" y="1645920"/>
            <a:ext cx="1472184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Arial Narrow"/>
                <a:ea typeface="LG스마트체 Regular"/>
              </a:rPr>
              <a:t>전략 선택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 Narrow"/>
                <a:ea typeface="LG스마트체 Regular"/>
              </a:rPr>
              <a:t>Bandit</a:t>
            </a:r>
          </a:p>
        </p:txBody>
      </p:sp>
      <p:sp>
        <p:nvSpPr>
          <p:cNvPr id="16" name="Oval 15"/>
          <p:cNvSpPr/>
          <p:nvPr/>
        </p:nvSpPr>
        <p:spPr>
          <a:xfrm>
            <a:off x="2135124" y="1508760"/>
            <a:ext cx="274320" cy="274320"/>
          </a:xfrm>
          <a:prstGeom prst="ellipse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 Narrow"/>
                <a:ea typeface="LG스마트체 Regular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6491" y="2093595"/>
            <a:ext cx="105156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4041648" y="2039620"/>
            <a:ext cx="82296" cy="127000"/>
          </a:xfrm>
          <a:prstGeom prst="triangle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42232" y="1600200"/>
            <a:ext cx="1618488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  <a:effectLst>
            <a:outerShdw blurRad="50000" dist="18000" dir="5400000" algn="b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15384" y="1645920"/>
            <a:ext cx="1472184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Arial Narrow"/>
                <a:ea typeface="LG스마트체 Regular"/>
              </a:rPr>
              <a:t>실행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 Narrow"/>
                <a:ea typeface="LG스마트체 Regular"/>
              </a:rPr>
              <a:t>툴 · 코드</a:t>
            </a:r>
          </a:p>
        </p:txBody>
      </p:sp>
      <p:sp>
        <p:nvSpPr>
          <p:cNvPr id="21" name="Oval 20"/>
          <p:cNvSpPr/>
          <p:nvPr/>
        </p:nvSpPr>
        <p:spPr>
          <a:xfrm>
            <a:off x="3977640" y="1508760"/>
            <a:ext cx="274320" cy="274320"/>
          </a:xfrm>
          <a:prstGeom prst="ellipse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 Narrow"/>
                <a:ea typeface="LG스마트체 Regular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79008" y="2093595"/>
            <a:ext cx="105156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 rot="5400000">
            <a:off x="5884164" y="2039620"/>
            <a:ext cx="82296" cy="127000"/>
          </a:xfrm>
          <a:prstGeom prst="triangle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84748" y="1600200"/>
            <a:ext cx="1618488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  <a:effectLst>
            <a:outerShdw blurRad="50000" dist="18000" dir="5400000" algn="b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7900" y="1645920"/>
            <a:ext cx="1472184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Arial Narrow"/>
                <a:ea typeface="LG스마트체 Regular"/>
              </a:rPr>
              <a:t>보상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 Narrow"/>
                <a:ea typeface="LG스마트체 Regular"/>
              </a:rPr>
              <a:t>발견 · 진전</a:t>
            </a:r>
          </a:p>
        </p:txBody>
      </p:sp>
      <p:sp>
        <p:nvSpPr>
          <p:cNvPr id="26" name="Oval 25"/>
          <p:cNvSpPr/>
          <p:nvPr/>
        </p:nvSpPr>
        <p:spPr>
          <a:xfrm>
            <a:off x="5820156" y="1508760"/>
            <a:ext cx="274320" cy="274320"/>
          </a:xfrm>
          <a:prstGeom prst="ellipse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 Narrow"/>
                <a:ea typeface="LG스마트체 Regular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21523" y="2093595"/>
            <a:ext cx="105156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 rot="5400000">
            <a:off x="7726679" y="2039620"/>
            <a:ext cx="82296" cy="127000"/>
          </a:xfrm>
          <a:prstGeom prst="triangle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27264" y="1600200"/>
            <a:ext cx="1618488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A50034"/>
            </a:solidFill>
          </a:ln>
          <a:effectLst>
            <a:outerShdw blurRad="50000" dist="18000" dir="5400000" algn="b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00416" y="1645920"/>
            <a:ext cx="1472184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00000"/>
                </a:solidFill>
                <a:latin typeface="Arial Narrow"/>
                <a:ea typeface="LG스마트체 Regular"/>
              </a:rPr>
              <a:t>학습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 Narrow"/>
                <a:ea typeface="LG스마트체 Regular"/>
              </a:rPr>
              <a:t>값 갱신</a:t>
            </a:r>
          </a:p>
        </p:txBody>
      </p:sp>
      <p:sp>
        <p:nvSpPr>
          <p:cNvPr id="31" name="Oval 30"/>
          <p:cNvSpPr/>
          <p:nvPr/>
        </p:nvSpPr>
        <p:spPr>
          <a:xfrm>
            <a:off x="7662672" y="1508760"/>
            <a:ext cx="274320" cy="274320"/>
          </a:xfrm>
          <a:prstGeom prst="ellipse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 Narrow"/>
                <a:ea typeface="LG스마트체 Regular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2788920"/>
            <a:ext cx="4416552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2816352"/>
            <a:ext cx="3886200" cy="722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 Narrow"/>
                <a:ea typeface="LG스마트체 Regular"/>
              </a:rPr>
              <a:t>막히면 · 반성  —  </a:t>
            </a:r>
            <a:r>
              <a:rPr sz="1100" b="0">
                <a:solidFill>
                  <a:srgbClr val="333333"/>
                </a:solidFill>
                <a:latin typeface="Arial Narrow"/>
                <a:ea typeface="LG스마트체 Regular"/>
              </a:rPr>
              <a:t>새 전략을 생성해 행동 공간 확장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0" y="2788920"/>
            <a:ext cx="4416552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0" y="2816352"/>
            <a:ext cx="3886200" cy="722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00000"/>
                </a:solidFill>
                <a:latin typeface="Arial Narrow"/>
                <a:ea typeface="LG스마트체 Regular"/>
              </a:rPr>
              <a:t>성공하면 · 축적  —  </a:t>
            </a:r>
            <a:r>
              <a:rPr sz="1100" b="0">
                <a:solidFill>
                  <a:srgbClr val="333333"/>
                </a:solidFill>
                <a:latin typeface="Arial Narrow"/>
                <a:ea typeface="LG스마트체 Regular"/>
              </a:rPr>
              <a:t>playbook 저장, 다음 세션에 재주입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840480"/>
            <a:ext cx="4114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000000"/>
                </a:solidFill>
                <a:latin typeface="Arial Narrow"/>
                <a:ea typeface="LG스마트체 Regular"/>
              </a:rPr>
              <a:t>13.6 </a:t>
            </a:r>
            <a:r>
              <a:rPr sz="2200" b="1">
                <a:solidFill>
                  <a:srgbClr val="C00000"/>
                </a:solidFill>
                <a:latin typeface="Arial Narrow"/>
                <a:ea typeface="LG스마트체 Regular"/>
              </a:rPr>
              <a:t>→</a:t>
            </a:r>
            <a:r>
              <a:rPr sz="2200" b="1">
                <a:solidFill>
                  <a:srgbClr val="000000"/>
                </a:solidFill>
                <a:latin typeface="Arial Narrow"/>
                <a:ea typeface="LG스마트체 Regular"/>
              </a:rPr>
              <a:t> 6.7 스텝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595959"/>
                </a:solidFill>
                <a:latin typeface="Arial Narrow"/>
                <a:ea typeface="LG스마트체 Regular"/>
              </a:rPr>
              <a:t>초반 10회 → 후반 10회 평균 시도 횟수 · 실측 학습 곡선 (최적 4)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92040" y="3886200"/>
            <a:ext cx="12700" cy="914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0" y="3840480"/>
            <a:ext cx="4023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0000"/>
                </a:solidFill>
                <a:latin typeface="Arial Narrow"/>
                <a:ea typeface="LG스마트체 Regular"/>
              </a:rPr>
              <a:t>243개 리프, 800 반복 해결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595959"/>
                </a:solidFill>
                <a:latin typeface="Arial Narrow"/>
                <a:ea typeface="LG스마트체 Regular"/>
              </a:rPr>
              <a:t>MCTS 트리 탐색 · 무작위 성공률 0.41% 환경에서 정확한 경로로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074920"/>
            <a:ext cx="898855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5074920"/>
            <a:ext cx="8988552" cy="3175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120640"/>
            <a:ext cx="8439912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95959"/>
                </a:solidFill>
                <a:latin typeface="Arial Narrow"/>
                <a:ea typeface="LG스마트체 Regular"/>
              </a:rPr>
              <a:t>이 루프를 코드로 직접 실행하는 주체  →  </a:t>
            </a:r>
            <a:r>
              <a:rPr sz="1150" b="1">
                <a:solidFill>
                  <a:srgbClr val="C00000"/>
                </a:solidFill>
                <a:latin typeface="Arial Narrow"/>
                <a:ea typeface="LG스마트체 Regular"/>
              </a:rPr>
              <a:t>다음 장: RLM 추론 엔진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79392" y="64008"/>
            <a:ext cx="13807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/>
              </a:rPr>
              <a:t>LGE Internal Use Only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39496"/>
            <a:ext cx="9902952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008"/>
            <a:ext cx="38404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000000"/>
                </a:solidFill>
                <a:latin typeface="Arial Narrow"/>
                <a:ea typeface="LG스마트체 Regular"/>
              </a:rPr>
              <a:t>5. RLM 추론 엔진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859536"/>
            <a:ext cx="16733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Arial Narrow"/>
                <a:ea typeface="LG스마트체 Regular"/>
              </a:rPr>
              <a:t>IronDome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89885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95959"/>
                </a:solidFill>
                <a:latin typeface="Arial Narrow"/>
                <a:ea typeface="LG스마트체 Regular"/>
              </a:rPr>
              <a:t>재귀 언어 모델(RLM) — IronDome이 생각하는 방식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6574536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Arial Narrow"/>
                <a:ea typeface="LG스마트체 Regular"/>
              </a:rPr>
              <a:t>‹6› /10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1618488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  <a:effectLst>
            <a:outerShdw blurRad="50000" dist="18000" dir="5400000" algn="b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645920"/>
            <a:ext cx="1472184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00000"/>
                </a:solidFill>
                <a:latin typeface="Arial Narrow"/>
                <a:ea typeface="LG스마트체 Regular"/>
              </a:rPr>
              <a:t>목표 접수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 Narrow"/>
                <a:ea typeface="LG스마트체 Regular"/>
              </a:rPr>
              <a:t>URL · 지시</a:t>
            </a:r>
          </a:p>
        </p:txBody>
      </p:sp>
      <p:sp>
        <p:nvSpPr>
          <p:cNvPr id="11" name="Oval 10"/>
          <p:cNvSpPr/>
          <p:nvPr/>
        </p:nvSpPr>
        <p:spPr>
          <a:xfrm>
            <a:off x="292608" y="1508760"/>
            <a:ext cx="274320" cy="274320"/>
          </a:xfrm>
          <a:prstGeom prst="ellipse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 Narrow"/>
                <a:ea typeface="LG스마트체 Regular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93976" y="2116455"/>
            <a:ext cx="105156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2199132" y="2062480"/>
            <a:ext cx="82296" cy="127000"/>
          </a:xfrm>
          <a:prstGeom prst="triangle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99716" y="1600200"/>
            <a:ext cx="1618488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A50034"/>
            </a:solidFill>
          </a:ln>
          <a:effectLst>
            <a:outerShdw blurRad="50000" dist="18000" dir="5400000" algn="b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2868" y="1645920"/>
            <a:ext cx="1472184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C00000"/>
                </a:solidFill>
                <a:latin typeface="Arial Narrow"/>
                <a:ea typeface="LG스마트체 Regular"/>
              </a:rPr>
              <a:t>분해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 Narrow"/>
                <a:ea typeface="LG스마트체 Regular"/>
              </a:rPr>
              <a:t>rlm() 재귀 호출</a:t>
            </a:r>
          </a:p>
        </p:txBody>
      </p:sp>
      <p:sp>
        <p:nvSpPr>
          <p:cNvPr id="16" name="Oval 15"/>
          <p:cNvSpPr/>
          <p:nvPr/>
        </p:nvSpPr>
        <p:spPr>
          <a:xfrm>
            <a:off x="2135124" y="1508760"/>
            <a:ext cx="274320" cy="274320"/>
          </a:xfrm>
          <a:prstGeom prst="ellipse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 Narrow"/>
                <a:ea typeface="LG스마트체 Regular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6491" y="2116455"/>
            <a:ext cx="105156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4041648" y="2062480"/>
            <a:ext cx="82296" cy="127000"/>
          </a:xfrm>
          <a:prstGeom prst="triangle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42232" y="1600200"/>
            <a:ext cx="1618488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A50034"/>
            </a:solidFill>
          </a:ln>
          <a:effectLst>
            <a:outerShdw blurRad="50000" dist="18000" dir="5400000" algn="b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15384" y="1645920"/>
            <a:ext cx="1472184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C00000"/>
                </a:solidFill>
                <a:latin typeface="Arial Narrow"/>
                <a:ea typeface="LG스마트체 Regular"/>
              </a:rPr>
              <a:t>병렬 실행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 Narrow"/>
                <a:ea typeface="LG스마트체 Regular"/>
              </a:rPr>
              <a:t>하위 REPL들</a:t>
            </a:r>
          </a:p>
        </p:txBody>
      </p:sp>
      <p:sp>
        <p:nvSpPr>
          <p:cNvPr id="21" name="Oval 20"/>
          <p:cNvSpPr/>
          <p:nvPr/>
        </p:nvSpPr>
        <p:spPr>
          <a:xfrm>
            <a:off x="3977640" y="1508760"/>
            <a:ext cx="274320" cy="274320"/>
          </a:xfrm>
          <a:prstGeom prst="ellipse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 Narrow"/>
                <a:ea typeface="LG스마트체 Regular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79008" y="2116455"/>
            <a:ext cx="105156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 rot="5400000">
            <a:off x="5884164" y="2062480"/>
            <a:ext cx="82296" cy="127000"/>
          </a:xfrm>
          <a:prstGeom prst="triangle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84748" y="1600200"/>
            <a:ext cx="1618488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  <a:effectLst>
            <a:outerShdw blurRad="50000" dist="18000" dir="5400000" algn="b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7900" y="1645920"/>
            <a:ext cx="1472184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00000"/>
                </a:solidFill>
                <a:latin typeface="Arial Narrow"/>
                <a:ea typeface="LG스마트체 Regular"/>
              </a:rPr>
              <a:t>회수 · 검증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 Narrow"/>
                <a:ea typeface="LG스마트체 Regular"/>
              </a:rPr>
              <a:t>결과 + 실증</a:t>
            </a:r>
          </a:p>
        </p:txBody>
      </p:sp>
      <p:sp>
        <p:nvSpPr>
          <p:cNvPr id="26" name="Oval 25"/>
          <p:cNvSpPr/>
          <p:nvPr/>
        </p:nvSpPr>
        <p:spPr>
          <a:xfrm>
            <a:off x="5820156" y="1508760"/>
            <a:ext cx="274320" cy="274320"/>
          </a:xfrm>
          <a:prstGeom prst="ellipse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 Narrow"/>
                <a:ea typeface="LG스마트체 Regular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21523" y="2116455"/>
            <a:ext cx="105156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 rot="5400000">
            <a:off x="7726679" y="2062480"/>
            <a:ext cx="82296" cy="127000"/>
          </a:xfrm>
          <a:prstGeom prst="triangle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27264" y="1600200"/>
            <a:ext cx="1618488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</a:ln>
          <a:effectLst>
            <a:outerShdw blurRad="50000" dist="18000" dir="5400000" algn="b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00416" y="1645920"/>
            <a:ext cx="1472184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00000"/>
                </a:solidFill>
                <a:latin typeface="Arial Narrow"/>
                <a:ea typeface="LG스마트체 Regular"/>
              </a:rPr>
              <a:t>기록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 Narrow"/>
                <a:ea typeface="LG스마트체 Regular"/>
              </a:rPr>
              <a:t>rc.memo 축적</a:t>
            </a:r>
          </a:p>
        </p:txBody>
      </p:sp>
      <p:sp>
        <p:nvSpPr>
          <p:cNvPr id="31" name="Oval 30"/>
          <p:cNvSpPr/>
          <p:nvPr/>
        </p:nvSpPr>
        <p:spPr>
          <a:xfrm>
            <a:off x="7662672" y="1508760"/>
            <a:ext cx="274320" cy="274320"/>
          </a:xfrm>
          <a:prstGeom prst="ellipse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 Narrow"/>
                <a:ea typeface="LG스마트체 Regular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2834640"/>
            <a:ext cx="441655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50000" dist="18000" dir="5400000" algn="b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2962656"/>
            <a:ext cx="3913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00000"/>
                </a:solidFill>
                <a:latin typeface="Arial Narrow"/>
                <a:ea typeface="LG스마트체 Regular"/>
              </a:rPr>
              <a:t>영구 REPL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3310128"/>
            <a:ext cx="391363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33333"/>
                </a:solidFill>
                <a:latin typeface="Arial Narrow"/>
                <a:ea typeface="LG스마트체 Regular"/>
              </a:rPr>
              <a:t>일회성 툴 호출이 아닌 살아있는 파이썬 세션 — 변수와 상태가 스텝을 넘어 이어집니다.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0" y="2834640"/>
            <a:ext cx="441655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50000" dist="18000" dir="5400000" algn="b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0" y="2962656"/>
            <a:ext cx="3913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00000"/>
                </a:solidFill>
                <a:latin typeface="Arial Narrow"/>
                <a:ea typeface="LG스마트체 Regular"/>
              </a:rPr>
              <a:t>재귀 서브콜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3310128"/>
            <a:ext cx="391363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33333"/>
                </a:solidFill>
                <a:latin typeface="Arial Narrow"/>
                <a:ea typeface="LG스마트체 Regular"/>
              </a:rPr>
              <a:t>큰 작업은 스스로 쪼개 하위 에이전트에 병렬 분담 — 사람 팀처럼 일합니다.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160520"/>
            <a:ext cx="441655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50000" dist="18000" dir="5400000" algn="b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288536"/>
            <a:ext cx="3913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00000"/>
                </a:solidFill>
                <a:latin typeface="Arial Narrow"/>
                <a:ea typeface="LG스마트체 Regular"/>
              </a:rPr>
              <a:t>프롬프트를 변수로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636008"/>
            <a:ext cx="391363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33333"/>
                </a:solidFill>
                <a:latin typeface="Arial Narrow"/>
                <a:ea typeface="LG스마트체 Regular"/>
              </a:rPr>
              <a:t>관찰 · 중간결과 · 가설을 ctx 변수로 관리 — 맥락이 곧 코드가 됩니다.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0" y="4160520"/>
            <a:ext cx="441655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50000" dist="18000" dir="5400000" algn="b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0" y="4288536"/>
            <a:ext cx="3913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00000"/>
                </a:solidFill>
                <a:latin typeface="Arial Narrow"/>
                <a:ea typeface="LG스마트체 Regular"/>
              </a:rPr>
              <a:t>평생 학습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0" y="4636008"/>
            <a:ext cx="391363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33333"/>
                </a:solidFill>
                <a:latin typeface="Arial Narrow"/>
                <a:ea typeface="LG스마트체 Regular"/>
              </a:rPr>
              <a:t>통한 전략은 memo로 저장, 다음 실행에 자동 회상 — 세션이 자산이 됩니다.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486400"/>
            <a:ext cx="89885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5486400"/>
            <a:ext cx="8988552" cy="3175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532120"/>
            <a:ext cx="843991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 Narrow"/>
                <a:ea typeface="LG스마트체 Regular"/>
              </a:rPr>
              <a:t>안전  ·  </a:t>
            </a:r>
            <a:r>
              <a:rPr sz="1100" b="0">
                <a:solidFill>
                  <a:srgbClr val="333333"/>
                </a:solidFill>
                <a:latin typeface="Arial Narrow"/>
                <a:ea typeface="LG스마트체 Regular"/>
              </a:rPr>
              <a:t>재귀를 포함한 모든 경로는 동일한 인가 게이트를 통과합니다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79392" y="64008"/>
            <a:ext cx="13807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/>
              </a:rPr>
              <a:t>LGE Internal Use Only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39496"/>
            <a:ext cx="9902952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008"/>
            <a:ext cx="38404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000000"/>
                </a:solidFill>
                <a:latin typeface="Arial Narrow"/>
                <a:ea typeface="LG스마트체 Regular"/>
              </a:rPr>
              <a:t>6. 검증과 신뢰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859536"/>
            <a:ext cx="16733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Arial Narrow"/>
                <a:ea typeface="LG스마트체 Regular"/>
              </a:rPr>
              <a:t>IronDome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89885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95959"/>
                </a:solidFill>
                <a:latin typeface="Arial Narrow"/>
                <a:ea typeface="LG스마트체 Regular"/>
              </a:rPr>
              <a:t>추측과 실측을 분리하고, 인가 없이는 손가락 하나 까딱하지 않습니다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6574536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Arial Narrow"/>
                <a:ea typeface="LG스마트체 Regular"/>
              </a:rPr>
              <a:t>‹7› /10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441655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50000" dist="18000" dir="5400000" algn="b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3886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00000"/>
                </a:solidFill>
                <a:latin typeface="Arial Narrow"/>
                <a:ea typeface="LG스마트체 Regular"/>
              </a:rPr>
              <a:t>추측과 실측을 섞지 않는다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40280"/>
            <a:ext cx="868680" cy="402336"/>
          </a:xfrm>
          <a:prstGeom prst="rect">
            <a:avLst/>
          </a:prstGeom>
          <a:solidFill>
            <a:srgbClr val="1B1B1B"/>
          </a:solidFill>
          <a:ln w="12700">
            <a:solidFill>
              <a:srgbClr val="1B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8686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 Narrow"/>
                <a:ea typeface="LG스마트체 Regular"/>
              </a:rPr>
              <a:t>실증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194560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Arial Narrow"/>
                <a:ea typeface="LG스마트체 Regular"/>
              </a:rPr>
              <a:t>직접 재현 · 확인됨  ·  </a:t>
            </a:r>
            <a:r>
              <a:rPr sz="1000" b="0">
                <a:solidFill>
                  <a:srgbClr val="595959"/>
                </a:solidFill>
                <a:latin typeface="Arial Narrow"/>
                <a:ea typeface="LG스마트체 Regular"/>
              </a:rPr>
              <a:t>증거와 함께 확인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788920"/>
            <a:ext cx="868680" cy="402336"/>
          </a:xfrm>
          <a:prstGeom prst="rect">
            <a:avLst/>
          </a:prstGeom>
          <a:solidFill>
            <a:srgbClr val="A50034"/>
          </a:solidFill>
          <a:ln w="12700">
            <a:solidFill>
              <a:srgbClr val="A50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88920"/>
            <a:ext cx="8686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 Narrow"/>
                <a:ea typeface="LG스마트체 Regular"/>
              </a:rPr>
              <a:t>징후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743200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Arial Narrow"/>
                <a:ea typeface="LG스마트체 Regular"/>
              </a:rPr>
              <a:t>부분 확인  ·  </a:t>
            </a:r>
            <a:r>
              <a:rPr sz="1000" b="0">
                <a:solidFill>
                  <a:srgbClr val="595959"/>
                </a:solidFill>
                <a:latin typeface="Arial Narrow"/>
                <a:ea typeface="LG스마트체 Regular"/>
              </a:rPr>
              <a:t>취약한 흔적, 재현 전 단계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337560"/>
            <a:ext cx="868680" cy="40233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337560"/>
            <a:ext cx="8686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 Narrow"/>
                <a:ea typeface="LG스마트체 Regular"/>
              </a:rPr>
              <a:t>가정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291840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Arial Narrow"/>
                <a:ea typeface="LG스마트체 Regular"/>
              </a:rPr>
              <a:t>설명 기반 추론  ·  </a:t>
            </a:r>
            <a:r>
              <a:rPr sz="1000" b="0">
                <a:solidFill>
                  <a:srgbClr val="595959"/>
                </a:solidFill>
                <a:latin typeface="Arial Narrow"/>
                <a:ea typeface="LG스마트체 Regular"/>
              </a:rPr>
              <a:t>구조상 가능한 시나리오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950208"/>
            <a:ext cx="388620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041648"/>
            <a:ext cx="3886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00000"/>
                </a:solidFill>
                <a:latin typeface="Arial Narrow"/>
                <a:ea typeface="LG스마트체 Regular"/>
              </a:rPr>
              <a:t>모든 루트에 “미리 막는 방법” + 담당 · 기한(P0~P3)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1600200"/>
            <a:ext cx="441655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50000" dist="18000" dir="5400000" algn="b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0" y="1737360"/>
            <a:ext cx="3886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00000"/>
                </a:solidFill>
                <a:latin typeface="Arial Narrow"/>
                <a:ea typeface="LG스마트체 Regular"/>
              </a:rPr>
              <a:t>인가 없이는 동작하지 않는다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2267712"/>
            <a:ext cx="3886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00000"/>
                </a:solidFill>
                <a:latin typeface="Arial Narrow"/>
                <a:ea typeface="LG스마트체 Regular"/>
              </a:rPr>
              <a:t>✓  </a:t>
            </a:r>
            <a:r>
              <a:rPr sz="1100" b="1">
                <a:solidFill>
                  <a:srgbClr val="000000"/>
                </a:solidFill>
                <a:latin typeface="Arial Narrow"/>
                <a:ea typeface="LG스마트체 Regular"/>
              </a:rPr>
              <a:t>인가 게이트  ·  </a:t>
            </a:r>
            <a:r>
              <a:rPr sz="1050" b="0">
                <a:solidFill>
                  <a:srgbClr val="333333"/>
                </a:solidFill>
                <a:latin typeface="Arial Narrow"/>
                <a:ea typeface="LG스마트체 Regular"/>
              </a:rPr>
              <a:t>허용 목록 밖은 시도조차 불가 · fail-closed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2743200"/>
            <a:ext cx="3886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00000"/>
                </a:solidFill>
                <a:latin typeface="Arial Narrow"/>
                <a:ea typeface="LG스마트체 Regular"/>
              </a:rPr>
              <a:t>✓  </a:t>
            </a:r>
            <a:r>
              <a:rPr sz="1100" b="1">
                <a:solidFill>
                  <a:srgbClr val="000000"/>
                </a:solidFill>
                <a:latin typeface="Arial Narrow"/>
                <a:ea typeface="LG스마트체 Regular"/>
              </a:rPr>
              <a:t>매 요청 재확인  ·  </a:t>
            </a:r>
            <a:r>
              <a:rPr sz="1050" b="0">
                <a:solidFill>
                  <a:srgbClr val="333333"/>
                </a:solidFill>
                <a:latin typeface="Arial Narrow"/>
                <a:ea typeface="LG스마트체 Regular"/>
              </a:rPr>
              <a:t>DNS 리바인딩 · 내부망 측면 이동 차단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218688"/>
            <a:ext cx="3886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00000"/>
                </a:solidFill>
                <a:latin typeface="Arial Narrow"/>
                <a:ea typeface="LG스마트체 Regular"/>
              </a:rPr>
              <a:t>✓  </a:t>
            </a:r>
            <a:r>
              <a:rPr sz="1100" b="1">
                <a:solidFill>
                  <a:srgbClr val="000000"/>
                </a:solidFill>
                <a:latin typeface="Arial Narrow"/>
                <a:ea typeface="LG스마트체 Regular"/>
              </a:rPr>
              <a:t>비파괴 실측  ·  </a:t>
            </a:r>
            <a:r>
              <a:rPr sz="1050" b="0">
                <a:solidFill>
                  <a:srgbClr val="333333"/>
                </a:solidFill>
                <a:latin typeface="Arial Narrow"/>
                <a:ea typeface="LG스마트체 Regular"/>
              </a:rPr>
              <a:t>GET만 사용 · 파괴 · DoS 의도 차단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694176"/>
            <a:ext cx="3886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00000"/>
                </a:solidFill>
                <a:latin typeface="Arial Narrow"/>
                <a:ea typeface="LG스마트체 Regular"/>
              </a:rPr>
              <a:t>✓  </a:t>
            </a:r>
            <a:r>
              <a:rPr sz="1100" b="1">
                <a:solidFill>
                  <a:srgbClr val="000000"/>
                </a:solidFill>
                <a:latin typeface="Arial Narrow"/>
                <a:ea typeface="LG스마트체 Regular"/>
              </a:rPr>
              <a:t>증거 보호  ·  </a:t>
            </a:r>
            <a:r>
              <a:rPr sz="1050" b="0">
                <a:solidFill>
                  <a:srgbClr val="333333"/>
                </a:solidFill>
                <a:latin typeface="Arial Narrow"/>
                <a:ea typeface="LG스마트체 Regular"/>
              </a:rPr>
              <a:t>비밀값 마스킹 · 해시체인 감사 로그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4224528"/>
            <a:ext cx="3886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5959"/>
                </a:solidFill>
                <a:latin typeface="Arial Narrow"/>
                <a:ea typeface="LG스마트체 Regular"/>
              </a:rPr>
              <a:t>합법 대상만 — 내 서비스 · 실습랩 · 인가된 진단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846320"/>
            <a:ext cx="224713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C00000"/>
                </a:solidFill>
                <a:latin typeface="Arial Narrow"/>
                <a:ea typeface="LG스마트체 Regular"/>
              </a:rPr>
              <a:t>100%  </a:t>
            </a:r>
            <a:r>
              <a:rPr sz="1050" b="0">
                <a:solidFill>
                  <a:srgbClr val="595959"/>
                </a:solidFill>
                <a:latin typeface="Arial Narrow"/>
                <a:ea typeface="LG스마트체 Regular"/>
              </a:rPr>
              <a:t>14개 랩 해결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04338" y="4919472"/>
            <a:ext cx="12700" cy="63093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04338" y="4846320"/>
            <a:ext cx="224713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C00000"/>
                </a:solidFill>
                <a:latin typeface="Arial Narrow"/>
                <a:ea typeface="LG스마트체 Regular"/>
              </a:rPr>
              <a:t>0건  </a:t>
            </a:r>
            <a:r>
              <a:rPr sz="1050" b="0">
                <a:solidFill>
                  <a:srgbClr val="595959"/>
                </a:solidFill>
                <a:latin typeface="Arial Narrow"/>
                <a:ea typeface="LG스마트체 Regular"/>
              </a:rPr>
              <a:t>오탐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51476" y="4919472"/>
            <a:ext cx="12700" cy="63093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51476" y="4846320"/>
            <a:ext cx="224713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C00000"/>
                </a:solidFill>
                <a:latin typeface="Arial Narrow"/>
                <a:ea typeface="LG스마트체 Regular"/>
              </a:rPr>
              <a:t>430+  </a:t>
            </a:r>
            <a:r>
              <a:rPr sz="1050" b="0">
                <a:solidFill>
                  <a:srgbClr val="595959"/>
                </a:solidFill>
                <a:latin typeface="Arial Narrow"/>
                <a:ea typeface="LG스마트체 Regular"/>
              </a:rPr>
              <a:t>테스트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98614" y="4919472"/>
            <a:ext cx="12700" cy="63093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98614" y="4846320"/>
            <a:ext cx="224713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C00000"/>
                </a:solidFill>
                <a:latin typeface="Arial Narrow"/>
                <a:ea typeface="LG스마트체 Regular"/>
              </a:rPr>
              <a:t>9/9  </a:t>
            </a:r>
            <a:r>
              <a:rPr sz="1050" b="0">
                <a:solidFill>
                  <a:srgbClr val="595959"/>
                </a:solidFill>
                <a:latin typeface="Arial Narrow"/>
                <a:ea typeface="LG스마트체 Regular"/>
              </a:rPr>
              <a:t>블라인드 탐지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79392" y="64008"/>
            <a:ext cx="13807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/>
              </a:rPr>
              <a:t>LGE Internal Use Only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39496"/>
            <a:ext cx="9902952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008"/>
            <a:ext cx="38404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000000"/>
                </a:solidFill>
                <a:latin typeface="Arial Narrow"/>
                <a:ea typeface="LG스마트체 Regular"/>
              </a:rPr>
              <a:t>7. 시연 시나리오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859536"/>
            <a:ext cx="16733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Arial Narrow"/>
                <a:ea typeface="LG스마트체 Regular"/>
              </a:rPr>
              <a:t>IronDome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52144"/>
            <a:ext cx="89885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95959"/>
                </a:solidFill>
                <a:latin typeface="Arial Narrow"/>
                <a:ea typeface="LG스마트체 Regular"/>
              </a:rPr>
              <a:t>실제 화면 그대로 — 편집 없이 전 과정을 진행합니다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6574536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Arial Narrow"/>
                <a:ea typeface="LG스마트체 Regular"/>
              </a:rPr>
              <a:t>‹8› 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C00000"/>
                </a:solidFill>
                <a:latin typeface="Arial Narrow"/>
                <a:ea typeface="LG스마트체 Regula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755648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595959"/>
                </a:solidFill>
                <a:latin typeface="Arial Narrow"/>
                <a:ea typeface="LG스마트체 Regular"/>
              </a:rPr>
              <a:t>약 30초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28346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ea typeface="LG스마트체 Regular"/>
              </a:rPr>
              <a:t>URL 입력 + 진단 클릭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Arial Narrow"/>
                <a:ea typeface="LG스마트체 Regular"/>
              </a:rPr>
              <a:t>대상 주소만 넣고 버튼 하나.
실측 정찰이 자동 시작됩니다.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69164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C00000"/>
                </a:solidFill>
                <a:latin typeface="Arial Narrow"/>
                <a:ea typeface="LG스마트체 Regula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755648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595959"/>
                </a:solidFill>
                <a:latin typeface="Arial Narrow"/>
                <a:ea typeface="LG스마트체 Regular"/>
              </a:rPr>
              <a:t>실시간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377440"/>
            <a:ext cx="28346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ea typeface="LG스마트체 Regular"/>
              </a:rPr>
              <a:t>공격 루트 확인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Arial Narrow"/>
                <a:ea typeface="LG스마트체 Regular"/>
              </a:rPr>
              <a:t>루트 카드 · 공격 흐름 ·
실증 / 징후 / 가정 배지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69164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C00000"/>
                </a:solidFill>
                <a:latin typeface="Arial Narrow"/>
                <a:ea typeface="LG스마트체 Regula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1755648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595959"/>
                </a:solidFill>
                <a:latin typeface="Arial Narrow"/>
                <a:ea typeface="LG스마트체 Regular"/>
              </a:rPr>
              <a:t>원클릭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77440"/>
            <a:ext cx="28346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ea typeface="LG스마트체 Regular"/>
              </a:rPr>
              <a:t>보고서 저장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Arial Narrow"/>
                <a:ea typeface="LG스마트체 Regular"/>
              </a:rPr>
              <a:t>A~F 등급 · 대응 권고 포함
MD / HTML 원클릭 저장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0128" y="1737360"/>
            <a:ext cx="12700" cy="26517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81928" y="1737360"/>
            <a:ext cx="12700" cy="26517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074920"/>
            <a:ext cx="898855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074920"/>
            <a:ext cx="8988552" cy="3175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120640"/>
            <a:ext cx="8439912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00000"/>
                </a:solidFill>
                <a:latin typeface="Arial Narrow"/>
                <a:ea typeface="LG스마트체 Regular"/>
              </a:rPr>
              <a:t>원클릭 진단 · 루트 카드 · 검증 배지 · MD/HTML 저장  —  </a:t>
            </a:r>
            <a:r>
              <a:rPr sz="1200" b="0">
                <a:solidFill>
                  <a:srgbClr val="000000"/>
                </a:solidFill>
                <a:latin typeface="Arial Narrow"/>
                <a:ea typeface="LG스마트체 Regular"/>
              </a:rPr>
              <a:t>앱 화면 그대로 보여드립니다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494276" y="1554480"/>
            <a:ext cx="914400" cy="5080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0" y="1828800"/>
            <a:ext cx="55138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C00000"/>
                </a:solidFill>
                <a:latin typeface="Arial Narrow"/>
                <a:ea typeface="LG스마트체 Regular"/>
              </a:rPr>
              <a:t>● 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304288"/>
            <a:ext cx="7342631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6000" b="1">
                <a:solidFill>
                  <a:srgbClr val="000000"/>
                </a:solidFill>
                <a:latin typeface="Arial Narrow"/>
                <a:ea typeface="LG스마트체 Regular"/>
              </a:rPr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511296"/>
            <a:ext cx="73426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  <a:latin typeface="Arial Narrow"/>
                <a:ea typeface="LG스마트체 Regular"/>
              </a:rPr>
              <a:t>URL 입력  →  진단  →  보고서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005072"/>
            <a:ext cx="734263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Arial Narrow"/>
                <a:ea typeface="LG스마트체 Regular"/>
              </a:rPr>
              <a:t>실시간 시연 — 화면을 전환합니다</a:t>
            </a:r>
          </a:p>
        </p:txBody>
      </p:sp>
      <p:pic>
        <p:nvPicPr>
          <p:cNvPr id="8" name="Picture 7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136" y="5138928"/>
            <a:ext cx="822960" cy="365760"/>
          </a:xfrm>
          <a:prstGeom prst="rect">
            <a:avLst/>
          </a:prstGeom>
        </p:spPr>
      </p:pic>
      <p:pic>
        <p:nvPicPr>
          <p:cNvPr id="9" name="Picture 8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5230368"/>
            <a:ext cx="1453896" cy="1435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06840" y="6574536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Arial Narrow"/>
                <a:ea typeface="LG스마트체 Regular"/>
              </a:rPr>
              <a:t>‹9› 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79392" y="64008"/>
            <a:ext cx="13807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/>
              </a:rPr>
              <a:t>LGE Internal Use Only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39496"/>
            <a:ext cx="9902952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008"/>
            <a:ext cx="38404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000000"/>
                </a:solidFill>
                <a:latin typeface="Arial Narrow"/>
                <a:ea typeface="LG스마트체 Regular"/>
              </a:rPr>
              <a:t>8. 마무리 및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859536"/>
            <a:ext cx="16733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Arial Narrow"/>
                <a:ea typeface="LG스마트체 Regular"/>
              </a:rPr>
              <a:t>IronDome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6840" y="6574536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Arial Narrow"/>
                <a:ea typeface="LG스마트체 Regular"/>
              </a:rPr>
              <a:t>‹10› 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9885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0">
                <a:solidFill>
                  <a:srgbClr val="333333"/>
                </a:solidFill>
                <a:latin typeface="Arial Narrow"/>
                <a:ea typeface="LG스마트체 Regular"/>
              </a:rPr>
              <a:t>IronDome은 </a:t>
            </a:r>
            <a:r>
              <a:rPr sz="2400" b="1">
                <a:solidFill>
                  <a:srgbClr val="000000"/>
                </a:solidFill>
                <a:latin typeface="Arial Narrow"/>
                <a:ea typeface="LG스마트체 Regular"/>
              </a:rPr>
              <a:t>공격자보다 먼저 생각하는 방어자</a:t>
            </a:r>
            <a:r>
              <a:rPr sz="2400" b="0">
                <a:solidFill>
                  <a:srgbClr val="333333"/>
                </a:solidFill>
                <a:latin typeface="Arial Narrow"/>
                <a:ea typeface="LG스마트체 Regular"/>
              </a:rPr>
              <a:t>입니다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5486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C00000"/>
                </a:solidFill>
                <a:latin typeface="Arial Narrow"/>
                <a:ea typeface="LG스마트체 Regular"/>
              </a:rPr>
              <a:t>✓   </a:t>
            </a:r>
            <a:r>
              <a:rPr sz="1350" b="1">
                <a:solidFill>
                  <a:srgbClr val="000000"/>
                </a:solidFill>
                <a:latin typeface="Arial Narrow"/>
                <a:ea typeface="LG스마트체 Regular"/>
              </a:rPr>
              <a:t>창의적으로 시도하고</a:t>
            </a:r>
            <a:r>
              <a:rPr sz="1100" b="0">
                <a:solidFill>
                  <a:srgbClr val="595959"/>
                </a:solidFill>
                <a:latin typeface="Arial Narrow"/>
                <a:ea typeface="LG스마트체 Regular"/>
              </a:rPr>
              <a:t>  ·  정해진 점검이 놓치는 루트를 발굴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01568"/>
            <a:ext cx="5486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C00000"/>
                </a:solidFill>
                <a:latin typeface="Arial Narrow"/>
                <a:ea typeface="LG스마트체 Regular"/>
              </a:rPr>
              <a:t>✓   </a:t>
            </a:r>
            <a:r>
              <a:rPr sz="1350" b="1">
                <a:solidFill>
                  <a:srgbClr val="000000"/>
                </a:solidFill>
                <a:latin typeface="Arial Narrow"/>
                <a:ea typeface="LG스마트체 Regular"/>
              </a:rPr>
              <a:t>재귀적으로 생각하고</a:t>
            </a:r>
            <a:r>
              <a:rPr sz="1100" b="0">
                <a:solidFill>
                  <a:srgbClr val="595959"/>
                </a:solidFill>
                <a:latin typeface="Arial Narrow"/>
                <a:ea typeface="LG스마트체 Regular"/>
              </a:rPr>
              <a:t>  ·  RLM이 나누고 병렬로 해결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68496"/>
            <a:ext cx="5486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C00000"/>
                </a:solidFill>
                <a:latin typeface="Arial Narrow"/>
                <a:ea typeface="LG스마트체 Regular"/>
              </a:rPr>
              <a:t>✓   </a:t>
            </a:r>
            <a:r>
              <a:rPr sz="1350" b="1">
                <a:solidFill>
                  <a:srgbClr val="000000"/>
                </a:solidFill>
                <a:latin typeface="Arial Narrow"/>
                <a:ea typeface="LG스마트체 Regular"/>
              </a:rPr>
              <a:t>배워서 빨라지고</a:t>
            </a:r>
            <a:r>
              <a:rPr sz="1100" b="0">
                <a:solidFill>
                  <a:srgbClr val="595959"/>
                </a:solidFill>
                <a:latin typeface="Arial Narrow"/>
                <a:ea typeface="LG스마트체 Regular"/>
              </a:rPr>
              <a:t>  ·  성공 전술을 축적하는 자기발전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35424"/>
            <a:ext cx="5486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C00000"/>
                </a:solidFill>
                <a:latin typeface="Arial Narrow"/>
                <a:ea typeface="LG스마트체 Regular"/>
              </a:rPr>
              <a:t>✓   </a:t>
            </a:r>
            <a:r>
              <a:rPr sz="1350" b="1">
                <a:solidFill>
                  <a:srgbClr val="000000"/>
                </a:solidFill>
                <a:latin typeface="Arial Narrow"/>
                <a:ea typeface="LG스마트체 Regular"/>
              </a:rPr>
              <a:t>증거로 증명합니다</a:t>
            </a:r>
            <a:r>
              <a:rPr sz="1100" b="0">
                <a:solidFill>
                  <a:srgbClr val="595959"/>
                </a:solidFill>
                <a:latin typeface="Arial Narrow"/>
                <a:ea typeface="LG스마트체 Regular"/>
              </a:rPr>
              <a:t>  ·  실증 배지 · A~F 등급 · 대응 권고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788920"/>
            <a:ext cx="3044952" cy="1920240"/>
          </a:xfrm>
          <a:prstGeom prst="rect">
            <a:avLst/>
          </a:prstGeom>
          <a:solidFill>
            <a:srgbClr val="1B1B1B"/>
          </a:solidFill>
          <a:ln w="12700">
            <a:solidFill>
              <a:srgbClr val="1B1B1B"/>
            </a:solidFill>
          </a:ln>
          <a:effectLst>
            <a:outerShdw blurRad="50000" dist="18000" dir="5400000" algn="b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788920"/>
            <a:ext cx="3044952" cy="3175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971800"/>
            <a:ext cx="2496312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Arial Narrow"/>
                <a:ea typeface="LG스마트체 Regular"/>
              </a:rPr>
              <a:t>Q &amp; A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Arial Narrow"/>
                <a:ea typeface="LG스마트체 Regular"/>
              </a:rPr>
              <a:t>질문 받겠습니다. 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IronDome — URL 하나면 시작되는 창의적 모의해킹 (RLM 기반)</dc:title>
  <dc:subject>RedCell RLM 기반 자동화 모의해킹 데모 발표</dc:subject>
  <dc:creator>IronDome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